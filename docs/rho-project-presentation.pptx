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3" r:id="rId24"/>
    <p:sldId id="274" r:id="rId25"/>
    <p:sldId id="261" r:id="rId12"/>
    <p:sldId id="262" r:id="rId13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326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 i="0">
                <a:solidFill>
                  <a:srgbClr val="8A8D96"/>
                </a:solidFill>
                <a:latin typeface="Consolas"/>
              </a:rPr>
              <a:t>RÉSUMÉ OPTIMISATION USING GENERATIVE AI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6171B"/>
                </a:solidFill>
                <a:latin typeface="Georgia"/>
              </a:rPr>
              <a:t>Stopping the model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4000" b="1" i="0">
                <a:solidFill>
                  <a:srgbClr val="2F5378"/>
                </a:solidFill>
                <a:latin typeface="Georgia"/>
              </a:rPr>
              <a:t>from lying about you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4C55"/>
                </a:solidFill>
                <a:latin typeface="Segoe UI"/>
              </a:rPr>
              <a:t>A provenance-verified rewrite gate for LLM résumé tailoring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709160"/>
            <a:ext cx="3291840" cy="19050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A4C55"/>
                </a:solidFill>
                <a:latin typeface="Segoe UI"/>
              </a:rPr>
              <a:t>[Your Name]  ·  [Institution]  ·  [Date]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D96"/>
                </a:solidFill>
                <a:latin typeface="Consolas"/>
              </a:rPr>
              <a:t>gemini-3.1-flash-lite  ·  qwen2.5:14b  ·  all-mpnet-base-v2  ·  Docling  · 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01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problem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why the obvious version of this project is the wrong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943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6171B"/>
                </a:solidFill>
                <a:latin typeface="Segoe UI"/>
              </a:rPr>
              <a:t>Ask any LLM to tailor a résumé to a job. It will produce a better-matching résumé.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98362A"/>
                </a:solidFill>
                <a:latin typeface="Georgia"/>
              </a:rPr>
              <a:t>It will also invent.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4A4C55"/>
                </a:solidFill>
                <a:latin typeface="Segoe UI"/>
              </a:rPr>
              <a:t>Not maliciously. A model asked to close the gap between what a résumé says and what a job wants has one easy way to close it — add the missing skill.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70248"/>
            <a:ext cx="5943600" cy="114300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407408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8362A"/>
                </a:solidFill>
                <a:latin typeface="Consolas"/>
              </a:rPr>
              <a:t>THE CORE DIFFICULTY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71B"/>
                </a:solidFill>
                <a:latin typeface="Segoe UI"/>
              </a:rPr>
              <a:t>Optimising for match score actively rewards fabrication. The invented keyword IS the keyword being scored.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481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WHAT THE MODEL LEARNS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89280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02996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Résumé lacks 'Kubernetes'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Job requires 'Kubernetes'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87121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A8D96"/>
                </a:solidFill>
                <a:latin typeface="Segoe U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264408"/>
            <a:ext cx="4114800" cy="7315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419856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8362A"/>
                </a:solidFill>
                <a:latin typeface="Segoe UI"/>
              </a:rPr>
              <a:t>Add 'Kubernetes'  →  score goes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178808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171B"/>
                </a:solidFill>
                <a:latin typeface="Segoe UI"/>
              </a:rPr>
              <a:t>Every naïve metric ranks the fabricating system ABOVE the honest one.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So truthfulness cannot come from the objective. It needs an external, checkable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02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thesis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one sentence the whole project defends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0637215" cy="1371600"/>
          </a:xfrm>
          <a:prstGeom prst="rect">
            <a:avLst/>
          </a:prstGeom>
          <a:solidFill>
            <a:srgbClr val="E9EFF5"/>
          </a:solidFill>
          <a:ln w="1905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92808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6171B"/>
                </a:solidFill>
                <a:latin typeface="Georgia"/>
              </a:rPr>
              <a:t>Every hard-content token in a rewritten résumé — skill, tool, employer,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6171B"/>
                </a:solidFill>
                <a:latin typeface="Georgia"/>
              </a:rPr>
              <a:t>number, date — must trace to a span in the original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5847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5378"/>
                </a:solidFill>
                <a:latin typeface="Consolas"/>
              </a:rPr>
              <a:t>WE CALL THIS THE PROVENANCE INVARIANT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858768"/>
            <a:ext cx="5090007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9592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D96"/>
                </a:solidFill>
                <a:latin typeface="Consolas"/>
              </a:rPr>
              <a:t>GENERATOR  (the 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34256"/>
            <a:ext cx="472424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Creative, temperature 0.6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Allowed to be wrong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Proposes edits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3858768"/>
            <a:ext cx="5090007" cy="182880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399592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340"/>
                </a:solidFill>
                <a:latin typeface="Consolas"/>
              </a:rPr>
              <a:t>VERIFIER  (the gate)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4334256"/>
            <a:ext cx="472424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Deterministic, LLM-free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Allowed to be strict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Disposes of anything unsupported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Separating these is what makes 'fabrication rate' a measurement rather than a model's opinion of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03   </a:t>
            </a:r>
            <a:r>
              <a:rPr sz="2600" b="1">
                <a:solidFill>
                  <a:srgbClr val="16171B"/>
                </a:solidFill>
                <a:latin typeface="Georgia"/>
              </a:rPr>
              <a:t>Architecture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seven nodes · two parallel branches · one barrier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5856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4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Consolas"/>
              </a:rPr>
              <a:t>ingest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59" y="1801368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59" y="19476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8362A"/>
                </a:solidFill>
                <a:latin typeface="Consolas"/>
              </a:rPr>
              <a:t>extract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59" y="2715768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59" y="28620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8362A"/>
                </a:solidFill>
                <a:latin typeface="Consolas"/>
              </a:rPr>
              <a:t>jd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79" y="2258568"/>
            <a:ext cx="1417320" cy="566928"/>
          </a:xfrm>
          <a:prstGeom prst="rect">
            <a:avLst/>
          </a:prstGeom>
          <a:solidFill>
            <a:srgbClr val="E9EFF5"/>
          </a:solidFill>
          <a:ln w="2222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404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5378"/>
                </a:solidFill>
                <a:latin typeface="Consolas"/>
              </a:rPr>
              <a:t>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5856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4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Consolas"/>
              </a:rPr>
              <a:t>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2258568"/>
            <a:ext cx="1417320" cy="566928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404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6340"/>
                </a:solidFill>
                <a:latin typeface="Consolas"/>
              </a:rPr>
              <a:t>rewrite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258568"/>
            <a:ext cx="1417320" cy="566928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40487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6340"/>
                </a:solidFill>
                <a:latin typeface="Consolas"/>
              </a:rPr>
              <a:t>review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94560" y="2084832"/>
            <a:ext cx="457199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60" y="2542032"/>
            <a:ext cx="457199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79" y="2084832"/>
            <a:ext cx="457200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069079" y="2542032"/>
            <a:ext cx="457200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599" y="2542032"/>
            <a:ext cx="457201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542032"/>
            <a:ext cx="457199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39" y="2542032"/>
            <a:ext cx="457201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7240" y="3630168"/>
            <a:ext cx="274320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3602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deterministic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3630168"/>
            <a:ext cx="274320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8" y="3602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stochastic (LLM)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3630168"/>
            <a:ext cx="274320" cy="164592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3602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gate / verification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630168"/>
            <a:ext cx="274320" cy="164592"/>
          </a:xfrm>
          <a:prstGeom prst="rect">
            <a:avLst/>
          </a:prstGeom>
          <a:solidFill>
            <a:srgbClr val="E9EFF5"/>
          </a:solidFill>
          <a:ln w="2222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8" y="3602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fan-in barrier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6171B"/>
                </a:solidFill>
                <a:latin typeface="Segoe UI"/>
              </a:rPr>
              <a:t>The architectural principle: </a:t>
            </a:r>
            <a:r>
              <a:rPr sz="1600" b="1">
                <a:solidFill>
                  <a:srgbClr val="16171B"/>
                </a:solidFill>
                <a:latin typeface="Segoe UI"/>
              </a:rPr>
              <a:t>no stochastic stage is the last word on anything factual.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Every LLM stage is immediately followed by a deterministic stage that checks it. Résumé parsing and JD analysis are independent, so they run in parallel.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F5378"/>
                </a:solidFill>
                <a:latin typeface="Segoe UI"/>
              </a:rPr>
              <a:t>match</a:t>
            </a:r>
            <a:r>
              <a:rPr sz="1350" b="0">
                <a:solidFill>
                  <a:srgbClr val="4A4C55"/>
                </a:solidFill>
                <a:latin typeface="Segoe UI"/>
              </a:rPr>
              <a:t> is a deferred fan-in barrier, not a first-input-wins trigger — otherwise it fires on a state with requirements but no résumé, and 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04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we chose, and why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every component justified on task-shape grounds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4813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48132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THIS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Docling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92024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Layout-aware PDF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920240"/>
            <a:ext cx="6217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Emits per-item geometry (page, bbox, offsets) — this is what makes a provenance chain possible at all. A plain text extractor would foreclose the whole thesis.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2374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gemini-3.1-flash-lite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Extraction · JD · 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51760"/>
            <a:ext cx="6217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Genuine responseSchema constrained decoding. Cross-checked on local qwen2.5:14b to prove the guarantee is not vendor-specific.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552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all-mpnet-base-v2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8328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Semantic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383280"/>
            <a:ext cx="6217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Task shape is symmetric short-text similarity, which all-* models target. Speed is irrelevant behind LLM calls, so MiniLM buys nothing.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Ridge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1480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Score calibration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114800"/>
            <a:ext cx="6217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199 pairs, 5 features — higher capacity overfits. Coefficients stay inspectable, which matters for an auditability-premised pipeline.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183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RapidFuzz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84632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The gate itself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846320"/>
            <a:ext cx="6217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String-edit ratios, not embeddings. Determinism is what makes the fabrication rate reproducible rather than a model opinion.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4498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Temperature: 0 for extraction (reproducibility) · 0.6 for rewriting (the gate is what makes creativity safe)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07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provenance chain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substrate every guarantee rests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171B"/>
                </a:solidFill>
                <a:latin typeface="Segoe UI"/>
              </a:rPr>
              <a:t>At upload, every line of the PDF becomes a span — the exact words, plus where they came from.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A few hundred spans per résumé. This collection is the only thing the gate trusts.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15768"/>
            <a:ext cx="5760720" cy="16916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8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p:resume:34  →  "…sprint deliverables in Azure DevOps"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p:resume:12  →  "Advanced Application Engineer (AEH)"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p:resume:07  →  "Divanshu Bhargava"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90288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Every extracted field carries a *_prov list of the spans supporting it — attached during extraction, not reconstructed afterward.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1572768"/>
            <a:ext cx="23774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69164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0.874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2322576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provenance-attachment accuracy (public annotated set)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1572768"/>
            <a:ext cx="23774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1512" y="169164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0.894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1512" y="2322576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same metric, synthetic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081528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FUZZY, NOT EXACT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Span resolution allows a 90% fuzzy match. Exact matching would reject TRUE content over invisible formatting noise — a bullet glyph, a line break mid-phrase, a non-breaking space.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C55"/>
                </a:solidFill>
                <a:latin typeface="Segoe UI"/>
              </a:rPr>
              <a:t>The cost is handled downstream: finding a span is treated as </a:t>
            </a:r>
            <a:r>
              <a:rPr sz="1300" b="1">
                <a:solidFill>
                  <a:srgbClr val="16171B"/>
                </a:solidFill>
                <a:latin typeface="Segoe UI"/>
              </a:rPr>
              <a:t>necessary but not sufficient</a:t>
            </a:r>
            <a:r>
              <a:rPr sz="1300" b="0">
                <a:solidFill>
                  <a:srgbClr val="4A4C5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08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gate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how it actually stops invention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It never asks the LLM anything. It works by deletion — the model writes freely, then anything without evidence is removed.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SUBTRACTIVE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Can only delete, never rewrite — so it cannot itself introduce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4898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24231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DETERMINISTIC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Pure string matching and regex. Same inputs, same verdict, every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2556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5436" y="24231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POST-HOC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Inspects finished text, so it is independent of which model produced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D96"/>
                </a:solidFill>
                <a:latin typeface="Consolas"/>
              </a:rPr>
              <a:t>TWO CONTENT CLASSES, TREATED OPPOSITELY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24528"/>
            <a:ext cx="509000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370832"/>
            <a:ext cx="468767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16171B"/>
                </a:solidFill>
                <a:latin typeface="Consolas"/>
              </a:rPr>
              <a:t>SHORT FACTS   skills · titles · employers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Two-stage check. Find a supporting span (fuzzy ≥90), then verify EVERY word of the value appears in it (≥88).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C55"/>
                </a:solidFill>
                <a:latin typeface="Segoe UI"/>
              </a:rPr>
              <a:t>"Engineer" scores 100 against "Staff Engineer" — so finding a span is not enough. </a:t>
            </a:r>
            <a:r>
              <a:rPr sz="1200" b="1">
                <a:solidFill>
                  <a:srgbClr val="98362A"/>
                </a:solidFill>
                <a:latin typeface="Segoe UI"/>
              </a:rPr>
              <a:t>"Staff" came from nowhere.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4224528"/>
            <a:ext cx="509000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4370832"/>
            <a:ext cx="4687671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16171B"/>
                </a:solidFill>
                <a:latin typeface="Consolas"/>
              </a:rPr>
              <a:t>BULLETS   prose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Rewording is legitimate, so exact tests fail. Must (i) closely track a real bullet AND (ii) add no new hard token.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C55"/>
                </a:solidFill>
                <a:latin typeface="Segoe UI"/>
              </a:rPr>
              <a:t>"Led a team of 40 Teradata engineers" — scores well on similarity, but </a:t>
            </a:r>
            <a:r>
              <a:rPr sz="1200" b="1">
                <a:solidFill>
                  <a:srgbClr val="98362A"/>
                </a:solidFill>
                <a:latin typeface="Segoe UI"/>
              </a:rPr>
              <a:t>40 and Teradata are invented.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12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Where the numbers come from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bullet threshold was measured, not chosen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71B"/>
                </a:solidFill>
                <a:latin typeface="Segoe UI"/>
              </a:rPr>
              <a:t>Rewrites were scored against their source bullets. The two classes separate cleanly: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5450" y="2697480"/>
            <a:ext cx="3712450" cy="9525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0" y="2770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50" y="2770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8250" y="2770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50" y="27706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6695" y="2167128"/>
            <a:ext cx="265175" cy="5029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5215" y="30815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98362A"/>
                </a:solidFill>
                <a:latin typeface="Consolas"/>
              </a:rPr>
              <a:t>inventions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Consolas"/>
              </a:rPr>
              <a:t>37 – 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0780" y="2167128"/>
            <a:ext cx="1007665" cy="5029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740" y="308152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6340"/>
                </a:solidFill>
                <a:latin typeface="Consolas"/>
              </a:rPr>
              <a:t>genuine rephrasings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Consolas"/>
              </a:rPr>
              <a:t>68 – 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00" y="1892808"/>
            <a:ext cx="31750" cy="1051560"/>
          </a:xfrm>
          <a:prstGeom prst="rect">
            <a:avLst/>
          </a:prstGeom>
          <a:solidFill>
            <a:srgbClr val="2F5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80" y="15636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378"/>
                </a:solidFill>
                <a:latin typeface="Consolas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6126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60 sits in the empty band between the two classes — nothing was observed there, so the threshold is robust to small shifts.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Segoe UI"/>
              </a:rPr>
              <a:t>90 was tried first: it rejected EVERY genuine rephrasing.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481328"/>
            <a:ext cx="4663440" cy="214884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664208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F5378"/>
                </a:solidFill>
                <a:latin typeface="Consolas"/>
              </a:rPr>
              <a:t>IMPORTANT DISTINCTION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6171B"/>
                </a:solidFill>
                <a:latin typeface="Segoe UI"/>
              </a:rPr>
              <a:t>None of the gate's thresholds are cosine similarities.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They are RapidFuzz string-edit ratios — character-level, no neural network, no vectors.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Embeddings would be worse here: 'Staff Engineer' and 'Engineer' are semantically very similar, differing by exactly the fabricated part.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Cosine similarity appears only in scoring (sem_hi 0.65 / sem_lo 0.45) — never in the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13   </a:t>
            </a:r>
            <a:r>
              <a:rPr sz="2600" b="1">
                <a:solidFill>
                  <a:srgbClr val="16171B"/>
                </a:solidFill>
                <a:latin typeface="Georgia"/>
              </a:rPr>
              <a:t>Does it work?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30 résumé/JD pairs · the headline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2743200" cy="14173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00200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98362A"/>
                </a:solidFill>
                <a:latin typeface="Consola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31136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unsourced claims shipped with prompt grounding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481328"/>
            <a:ext cx="2743200" cy="14173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600200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6340"/>
                </a:solidFill>
                <a:latin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231136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shipped with the gate enabled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81328"/>
            <a:ext cx="2743200" cy="14173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600200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6340"/>
                </a:solidFill>
                <a:latin typeface="Consolas"/>
              </a:rPr>
              <a:t>31 →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231136"/>
            <a:ext cx="24140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same result, second model (qwen2.5:14b)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481328"/>
            <a:ext cx="16916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7232" y="1600200"/>
            <a:ext cx="13624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2231136"/>
            <a:ext cx="13624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caught only by span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64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644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GATE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2644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GATE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3872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Documents shipping completely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Consolas"/>
              </a:rPr>
              <a:t>20/30  =  66.7%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6340"/>
                </a:solidFill>
                <a:latin typeface="Consolas"/>
              </a:rPr>
              <a:t>30/30  =  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105656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336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Individual edits that were unsourced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Consolas"/>
              </a:rPr>
              <a:t>40/72  =  44%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6340"/>
                </a:solidFill>
                <a:latin typeface="Consolas"/>
              </a:rPr>
              <a:t>0/32  =  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36008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6171B"/>
                </a:solidFill>
                <a:latin typeface="Segoe UI"/>
              </a:rPr>
              <a:t>The 32 supported edits still shipped. </a:t>
            </a:r>
            <a:r>
              <a:rPr sz="1450" b="0">
                <a:solidFill>
                  <a:srgbClr val="4A4C55"/>
                </a:solidFill>
                <a:latin typeface="Segoe UI"/>
              </a:rPr>
              <a:t>The gate removed the unsupported subset — it did not suppress rewriting.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Ablation: replacing span-resolved provenance with a plain substring search over the source text catches 36 of 40 — and misses 4 additions that appear somewhere in the document but are not supported where the rewriter used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14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that zero does — and does not — mean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state this before you are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0637215" cy="1417320"/>
          </a:xfrm>
          <a:prstGeom prst="rect">
            <a:avLst/>
          </a:prstGeom>
          <a:solidFill>
            <a:srgbClr val="F7EBE8"/>
          </a:solidFill>
          <a:ln w="1905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82496"/>
            <a:ext cx="100885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98362A"/>
                </a:solidFill>
                <a:latin typeface="Georgia"/>
              </a:rPr>
              <a:t>Gate-ON = 0 is true BY CONSTRUCTION. It is not an empirical finding.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171B"/>
                </a:solidFill>
                <a:latin typeface="Segoe UI"/>
              </a:rPr>
              <a:t>The gate's mechanism is deleting exactly those claims — so of course none survive. Presenting this as a discovery would be dishonest.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172968"/>
            <a:ext cx="10637215" cy="1417320"/>
          </a:xfrm>
          <a:prstGeom prst="rect">
            <a:avLst/>
          </a:prstGeom>
          <a:solidFill>
            <a:srgbClr val="E8F1EC"/>
          </a:solidFill>
          <a:ln w="1905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74135"/>
            <a:ext cx="100885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B6340"/>
                </a:solidFill>
                <a:latin typeface="Georgia"/>
              </a:rPr>
              <a:t>The real finding is the OTHER number: gate-OFF = 40.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171B"/>
                </a:solidFill>
                <a:latin typeface="Segoe UI"/>
              </a:rPr>
              <a:t>A prompt that explicitly says “an honest gap is the correct output; a fabricated match is a failure” still shipped 40 unsourced claims across 30 pairs.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71B"/>
                </a:solidFill>
                <a:latin typeface="Segoe UI"/>
              </a:rPr>
              <a:t>Prompts express preferences. They do not enforce constraints. </a:t>
            </a:r>
            <a:r>
              <a:rPr sz="1500" b="0">
                <a:solidFill>
                  <a:srgbClr val="4A4C55"/>
                </a:solidFill>
                <a:latin typeface="Segoe UI"/>
              </a:rPr>
              <a:t>That the guarantee holds identically on a second, independently hosted model shows it is a property of the gate, not of one model's generation 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15   </a:t>
            </a:r>
            <a:r>
              <a:rPr sz="2600" b="1">
                <a:solidFill>
                  <a:srgbClr val="16171B"/>
                </a:solidFill>
                <a:latin typeface="Georgia"/>
              </a:rPr>
              <a:t>Extraction and scoring quality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measured on an independent, human-annotated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481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81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BASIS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676656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Job title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0.935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92024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Independent annotations (n=143)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04288"/>
            <a:ext cx="67665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3230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Institution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32304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0.917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432304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Independent annotations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16352"/>
            <a:ext cx="67665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44368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Provenance attachment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44368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0.874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944368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Correct span, not merely some span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28416"/>
            <a:ext cx="67665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56432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Certification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456432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0.802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5643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Independent annotations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840480"/>
            <a:ext cx="67665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68496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Skills F1 (exact match)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968496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B"/>
                </a:solidFill>
                <a:latin typeface="Consolas"/>
              </a:rPr>
              <a:t>0.753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968496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Strict set match — see note below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352544"/>
            <a:ext cx="67665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481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AGAINST A REAL ATS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1892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SCORER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1892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167128"/>
            <a:ext cx="402336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331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Calibrated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331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6340"/>
                </a:solidFill>
                <a:latin typeface="Consolas"/>
              </a:rPr>
              <a:t>MAE 3.25 · ρ 0.333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734056"/>
            <a:ext cx="40233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28620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Cosine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8620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Consolas"/>
              </a:rPr>
              <a:t>MAE 27.58 · ρ 0.229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3264408"/>
            <a:ext cx="40233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493008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C55"/>
                </a:solidFill>
                <a:latin typeface="Segoe UI"/>
              </a:rPr>
              <a:t>Read ρ, not MAE: the cosine baseline emits 0–100 while the true target band is narrow (mean 13.4), so most of its error is scale mismatch, not ranking failure.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361688"/>
            <a:ext cx="6766560" cy="137160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5262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16171B"/>
                </a:solidFill>
                <a:latin typeface="Consolas"/>
              </a:rPr>
              <a:t>WHY SKILLS F1 IS LOWER — AND WHY IT IS PARTLY AN ARTEFACT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71B"/>
                </a:solidFill>
                <a:latin typeface="Segoe UI"/>
              </a:rPr>
              <a:t>27% of 'misses' are granularity disagreements</a:t>
            </a:r>
            <a:r>
              <a:rPr sz="1200" b="0">
                <a:solidFill>
                  <a:srgbClr val="4A4C55"/>
                </a:solidFill>
                <a:latin typeface="Segoe UI"/>
              </a:rPr>
              <a:t> — gold says "digital marketing strategies", we predict "marketing". Under partial credit F1 rises to </a:t>
            </a:r>
            <a:r>
              <a:rPr sz="1200" b="1">
                <a:solidFill>
                  <a:srgbClr val="16171B"/>
                </a:solidFill>
                <a:latin typeface="Segoe UI"/>
              </a:rPr>
              <a:t>0.805</a:t>
            </a:r>
            <a:r>
              <a:rPr sz="1200" b="0">
                <a:solidFill>
                  <a:srgbClr val="4A4C55"/>
                </a:solidFill>
                <a:latin typeface="Segoe UI"/>
              </a:rPr>
              <a:t>. The rest is over-segmentation of compound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16   </a:t>
            </a:r>
            <a:r>
              <a:rPr sz="2600" b="1">
                <a:solidFill>
                  <a:srgbClr val="16171B"/>
                </a:solidFill>
                <a:latin typeface="Georgia"/>
              </a:rPr>
              <a:t>A worked example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live run · DevOps Engineer Intern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85216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Match score (display)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920240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86000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14016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Keyword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14016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30.0%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14016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31.2%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79776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0779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Semantic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07792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60.0%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907792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63.8%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73552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Nice-to-have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401568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401568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50.0%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767328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95344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Must-have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89534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76.5%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89534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76.5%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261104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81328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ONE EDIT SURVIVED THE GATE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B6340"/>
                </a:solidFill>
                <a:latin typeface="Segoe UI"/>
              </a:rPr>
              <a:t>Azure</a:t>
            </a:r>
            <a:r>
              <a:rPr sz="1600" b="0">
                <a:solidFill>
                  <a:srgbClr val="16171B"/>
                </a:solidFill>
                <a:latin typeface="Segoe UI"/>
              </a:rPr>
              <a:t> was promoted into the skills list.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It was already evidenced in a work bullet — “…tracking work items and sprint deliverables in Azure DevOps” — but missing from the skills section.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Under-reported, not new. The gate verified it against that span.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340"/>
                </a:solidFill>
                <a:latin typeface="Consolas"/>
              </a:rPr>
              <a:t>total_edits 1  ·  verified 1  ·  rejected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61688"/>
            <a:ext cx="10637215" cy="137160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544568"/>
            <a:ext cx="100885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F5378"/>
                </a:solidFill>
                <a:latin typeface="Segoe UI"/>
              </a:rPr>
              <a:t>How to read a +1 point improvement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71B"/>
                </a:solidFill>
                <a:latin typeface="Segoe UI"/>
              </a:rPr>
              <a:t>This is the finding, not a weak result. Must-have coverage did not move because the résumé genuinely lacks AWS, GCP, Terraform, Ansible, Jenkins and ELK. A system that moved this résumé from 30 to 85 would be lying. Truthful tailoring has a low ceiling — set by what the candidate has actually done.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17   </a:t>
            </a:r>
            <a:r>
              <a:rPr sz="2600" b="1">
                <a:solidFill>
                  <a:srgbClr val="16171B"/>
                </a:solidFill>
                <a:latin typeface="Georgia"/>
              </a:rPr>
              <a:t>Limitations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declared, not discovered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90007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The scorer is also the evaluator. </a:t>
            </a:r>
            <a:r>
              <a:rPr sz="1350">
                <a:solidFill>
                  <a:srgbClr val="4A4C55"/>
                </a:solidFill>
                <a:latin typeface="Segoe UI"/>
              </a:rPr>
              <a:t>Improvement is measured against a calibrator we fitted. ρ = 0.333 is a modest predictor, not a faithful ATS simulation.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Guarantees inherit provenance accuracy. </a:t>
            </a:r>
            <a:r>
              <a:rPr sz="1350">
                <a:solidFill>
                  <a:srgbClr val="4A4C55"/>
                </a:solidFill>
                <a:latin typeface="Segoe UI"/>
              </a:rPr>
              <a:t>At 0.874, ~1 span in 8 is imperfect — a truthful claim whose span was missed gets wrongly rejected.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False-positive rate is unmeasured. </a:t>
            </a:r>
            <a:r>
              <a:rPr sz="1350">
                <a:solidFill>
                  <a:srgbClr val="4A4C55"/>
                </a:solidFill>
                <a:latin typeface="Segoe UI"/>
              </a:rPr>
              <a:t>That rejection cost to the user is the gate's real price, and we do not yet quantify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481328"/>
            <a:ext cx="5090007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Omission is not gated. </a:t>
            </a:r>
            <a:r>
              <a:rPr sz="1350">
                <a:solidFill>
                  <a:srgbClr val="4A4C55"/>
                </a:solidFill>
                <a:latin typeface="Segoe UI"/>
              </a:rPr>
              <a:t>We check nothing is invented, not that nothing is silently dropped. Bullet preservation is a prompt instruction, not an invariant.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Benchmark scale. </a:t>
            </a:r>
            <a:r>
              <a:rPr sz="1350">
                <a:solidFill>
                  <a:srgbClr val="4A4C55"/>
                </a:solidFill>
                <a:latin typeface="Segoe UI"/>
              </a:rPr>
              <a:t>30 pairs — enough to demonstrate the effect, not enough for a confidence interval on the mean fabrication rate.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350">
                <a:solidFill>
                  <a:srgbClr val="8A8D96"/>
                </a:solidFill>
                <a:latin typeface="Segoe UI"/>
              </a:rPr>
              <a:t>— </a:t>
            </a:r>
            <a:r>
              <a:rPr sz="1350" b="1">
                <a:solidFill>
                  <a:srgbClr val="16171B"/>
                </a:solidFill>
                <a:latin typeface="Segoe UI"/>
              </a:rPr>
              <a:t>Single language and domain. </a:t>
            </a:r>
            <a:r>
              <a:rPr sz="1350">
                <a:solidFill>
                  <a:srgbClr val="4A4C55"/>
                </a:solidFill>
                <a:latin typeface="Segoe UI"/>
              </a:rPr>
              <a:t>The hard-token rule treats Latin capitalisation as a factual signal; it would not transfer to a caseless script.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47488"/>
            <a:ext cx="10637215" cy="7772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171B"/>
                </a:solidFill>
                <a:latin typeface="Segoe UI"/>
              </a:rPr>
              <a:t>Note for reproduction: </a:t>
            </a:r>
            <a:r>
              <a:rPr sz="1200" b="0">
                <a:solidFill>
                  <a:srgbClr val="4A4C55"/>
                </a:solidFill>
                <a:latin typeface="Segoe UI"/>
              </a:rPr>
              <a:t>the coverage function was changed after the shipped calibrator was fitted. It must be refit and the ablations re-run before these score figures are published.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18   </a:t>
            </a:r>
            <a:r>
              <a:rPr sz="2600" b="1">
                <a:solidFill>
                  <a:srgbClr val="16171B"/>
                </a:solidFill>
                <a:latin typeface="Georgia"/>
              </a:rPr>
              <a:t>Conclusion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what this project establishes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6766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A provenance identifier space survives unbroken from ingestion through rewriting.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The match score is calibrated against a real ATS engine, not an embedding proxy.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A deterministic gate rejects any value the provenance chain cannot support — verified on two independent model backends.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71B"/>
                </a:solidFill>
                <a:latin typeface="Segoe UI"/>
              </a:rPr>
              <a:t>The measured result: </a:t>
            </a:r>
            <a:r>
              <a:rPr sz="1500" b="0">
                <a:solidFill>
                  <a:srgbClr val="4A4C55"/>
                </a:solidFill>
                <a:latin typeface="Segoe UI"/>
              </a:rPr>
              <a:t>prompt grounding alone let a third of documents ship a fabricated claim. The gate reduces that to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72768"/>
            <a:ext cx="4023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NEXT STEPS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Retained gain — what fraction of ungated improvement survives gating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The gate's false-positive rate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An adversarial rewriter instructed to evade the gate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Human evaluation against recruiter judgement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440680"/>
            <a:ext cx="10637215" cy="822960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14416"/>
            <a:ext cx="99971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AF9F7"/>
                </a:solidFill>
                <a:latin typeface="Georgia"/>
              </a:rPr>
              <a:t>Truthful tailoring has a low ceiling. Making that ceiling visible is more useful than optimising past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09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Which similarity function, and why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RapidFuzz gives four scorers — each threshold uses the one matching its failure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71B"/>
                </a:solidFill>
                <a:latin typeface="Segoe UI"/>
              </a:rPr>
              <a:t>All are character-level edit-distance ratios scored 0–100. None is a cosine similarity.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1214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USED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214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THIS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9572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whole-string, length-sensitive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1920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Skill/title equivalence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560320"/>
            <a:ext cx="4206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Penalises length difference, so it will not equate a token with a longer phrase containing it — right when both sides should be the same 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552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fuzz.partial_ratio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8328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best-matching substring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83280"/>
            <a:ext cx="1920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Span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383280"/>
            <a:ext cx="4206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A short value must be findable inside a long source line. Scores 100 for any substring — powerful, and dangerous (see next slide).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782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fuzz.token_set_ratio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20624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word sets, order-free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06240"/>
            <a:ext cx="1920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Bullet rephrasing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06240"/>
            <a:ext cx="4206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Rewriting reorders clauses legitimately, so word order must not count against a bullet. Ignores duplicates and ordering.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011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27448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MEASURED BEHAVIOUR — WHY THEY ARE NOT INTERCHANGEABLE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093208"/>
            <a:ext cx="2556433" cy="1371600"/>
          </a:xfrm>
          <a:prstGeom prst="rect">
            <a:avLst/>
          </a:prstGeom>
          <a:solidFill>
            <a:srgbClr val="E8F1EC"/>
          </a:solidFill>
          <a:ln w="1397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02936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ratio("python", "pyton")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88152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340"/>
                </a:solidFill>
                <a:latin typeface="Consolas"/>
              </a:rPr>
              <a:t>91   </a:t>
            </a:r>
            <a:r>
              <a:rPr sz="1300" b="0">
                <a:solidFill>
                  <a:srgbClr val="4A4C55"/>
                </a:solidFill>
                <a:latin typeface="Consolas"/>
              </a:rPr>
              <a:t>typo survives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0833" y="5093208"/>
            <a:ext cx="2556433" cy="1371600"/>
          </a:xfrm>
          <a:prstGeom prst="rect">
            <a:avLst/>
          </a:prstGeom>
          <a:solidFill>
            <a:srgbClr val="E9EFF5"/>
          </a:solidFill>
          <a:ln w="1397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7993" y="5202936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ratio("python", "python programming")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7993" y="5788152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378"/>
                </a:solidFill>
                <a:latin typeface="Consolas"/>
              </a:rPr>
              <a:t>50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length penalised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4427" y="5093208"/>
            <a:ext cx="2556433" cy="1371600"/>
          </a:xfrm>
          <a:prstGeom prst="rect">
            <a:avLst/>
          </a:prstGeom>
          <a:solidFill>
            <a:srgbClr val="F7EBE8"/>
          </a:solidFill>
          <a:ln w="1397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1587" y="5202936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partial_ratio("engineer", "staff engineer")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1587" y="5788152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8362A"/>
                </a:solidFill>
                <a:latin typeface="Consolas"/>
              </a:rPr>
              <a:t>100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substring = perfect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58021" y="5093208"/>
            <a:ext cx="2556433" cy="1371600"/>
          </a:xfrm>
          <a:prstGeom prst="rect">
            <a:avLst/>
          </a:prstGeom>
          <a:solidFill>
            <a:srgbClr val="F7EBE8"/>
          </a:solidFill>
          <a:ln w="1397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5181" y="5202936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token_set_ratio("managed 5 databases", "managed databases")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5181" y="5788152"/>
            <a:ext cx="228211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8362A"/>
                </a:solidFill>
                <a:latin typeface="Consolas"/>
              </a:rPr>
              <a:t>100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dropped content invisible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The last two score a perfect 100 on inputs that are NOT equivalent — which is exactly why each threshold is paired with a second check.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10   </a:t>
            </a:r>
            <a:r>
              <a:rPr sz="2600" b="1">
                <a:solidFill>
                  <a:srgbClr val="16171B"/>
                </a:solidFill>
                <a:latin typeface="Georgia"/>
              </a:rPr>
              <a:t>Every threshold in the system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seven constants · what each guards · how each was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SCORER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4813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813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481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5564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partial_ratio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Span resolution — find_prov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Conventional high-confidence cut. Deliberately treated as necessary-not-sufficient.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92024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323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56032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partial_ratio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56032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Every word of an added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Consolas"/>
              </a:rPr>
              <a:t>Slightly looser than 90 to tolerate inflection. Guards the Engineer -&gt; Staff Engineer attack.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56032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723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040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340"/>
                </a:solidFill>
                <a:latin typeface="Segoe UI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token_set_ratio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20040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Bullet is a rephrasing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Consolas"/>
              </a:rPr>
              <a:t>MEASURED: rephrasings 68-87, inventions 37-42. 90 rejected every real rephrasing.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0040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340"/>
                </a:solidFill>
                <a:latin typeface="Segoe UI"/>
              </a:rPr>
              <a:t>empirical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7124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84048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ratio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84048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Skill satisfies a requirement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4048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Typo tolerance on skill tokens; below this, different skills start colliding.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84048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35254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8056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48056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48056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Fuzzy coverage, per 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48056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Same rationale, applied word-wise so phrasal requirements get partial credit.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48056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9926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120640"/>
            <a:ext cx="1234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0.65 / 0.45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120640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378"/>
                </a:solidFill>
                <a:latin typeface="Segoe UI"/>
              </a:rPr>
              <a:t>cosine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120640"/>
            <a:ext cx="2606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Requirement present / weak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120640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SCORING ONLY — never gates anything. Provisional; never swept against a labelled set.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12064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8362A"/>
                </a:solidFill>
                <a:latin typeface="Segoe UI"/>
              </a:rPr>
              <a:t>untuned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6327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5276088"/>
            <a:ext cx="10637215" cy="841248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440680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171B"/>
                </a:solidFill>
                <a:latin typeface="Segoe UI"/>
              </a:rPr>
              <a:t>Be honest about this: </a:t>
            </a:r>
            <a:r>
              <a:rPr sz="1250" b="0">
                <a:solidFill>
                  <a:srgbClr val="4A4C55"/>
                </a:solidFill>
                <a:latin typeface="Segoe UI"/>
              </a:rPr>
              <a:t>only 60 has an empirical derivation. 88, 90 and 85 are conventional defaults, validated only indirectly by the gate's overall behaviour on the benchmark. A threshold sweep is legitimate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11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gate deciding, step by step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three real cases traced through the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3362858" cy="384048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30336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6340"/>
                </a:solidFill>
                <a:latin typeface="Consolas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"Azure" added to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88336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find_prov ≥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260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found: "…sprint deliverables in Azure DevOps"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584448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every word ≥ 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822192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"azure" appears in that span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480560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718304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Under-reported, not invented. Counted as a verified edit.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4418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4418" y="1481328"/>
            <a:ext cx="3362858" cy="384048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9010" y="1581912"/>
            <a:ext cx="30336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8362A"/>
                </a:solidFill>
                <a:latin typeface="Consolas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9010" y="20116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"Staff Engineer" as a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010" y="2688336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find_prov ≥ 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9010" y="29260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"Engineer" scores 100 — substring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9010" y="3584448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8362A"/>
                </a:solidFill>
                <a:latin typeface="Consolas"/>
              </a:rPr>
              <a:t>FAIL   </a:t>
            </a:r>
            <a:r>
              <a:rPr sz="1050" b="1">
                <a:solidFill>
                  <a:srgbClr val="16171B"/>
                </a:solidFill>
                <a:latin typeface="Consolas"/>
              </a:rPr>
              <a:t>every word ≥ 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9010" y="3822192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"staff" is absent from the span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010" y="4480560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010" y="4718304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found, but it does not support the whole claim. Dropped.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1596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1596" y="1481328"/>
            <a:ext cx="3362858" cy="384048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6188" y="1581912"/>
            <a:ext cx="30336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8362A"/>
                </a:solidFill>
                <a:latin typeface="Consolas"/>
              </a:rPr>
              <a:t>REJECTED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6188" y="20116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"Led a team of 40 Teradata engineers"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6188" y="2688336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token_set_ratio ≥ 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6188" y="2926080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Scores well — recycles source vocabulary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6188" y="3584448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8362A"/>
                </a:solidFill>
                <a:latin typeface="Consolas"/>
              </a:rPr>
              <a:t>FAIL   </a:t>
            </a:r>
            <a:r>
              <a:rPr sz="1050" b="1">
                <a:solidFill>
                  <a:srgbClr val="16171B"/>
                </a:solidFill>
                <a:latin typeface="Consolas"/>
              </a:rPr>
              <a:t>no new hard 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6188" y="3822192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"40" and "Teradata" are unsourced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6188" y="4480560"/>
            <a:ext cx="30336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6188" y="4718304"/>
            <a:ext cx="303367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Both conditions required. Similarity alone is not enough.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Rejections are counted in the FabricationReport — total_edits, verified_edits, rejected_edits, fabrication_rate.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05   </a:t>
            </a:r>
            <a:r>
              <a:rPr sz="2600" b="1">
                <a:solidFill>
                  <a:srgbClr val="16171B"/>
                </a:solidFill>
                <a:latin typeface="Georgia"/>
              </a:rPr>
              <a:t>A path we tried and abandoned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KeyBERT for requirement extraction — measured, then replaced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171B"/>
                </a:solidFill>
                <a:latin typeface="Segoe UI"/>
              </a:rPr>
              <a:t>The original design extracted job requirements with </a:t>
            </a:r>
            <a:r>
              <a:rPr sz="1450" b="1">
                <a:solidFill>
                  <a:srgbClr val="16171B"/>
                </a:solidFill>
                <a:latin typeface="Segoe UI"/>
              </a:rPr>
              <a:t>KeyBERT</a:t>
            </a:r>
            <a:r>
              <a:rPr sz="1450" b="0">
                <a:solidFill>
                  <a:srgbClr val="16171B"/>
                </a:solidFill>
                <a:latin typeface="Segoe UI"/>
              </a:rPr>
              <a:t> — BERT-embedding keyphrase extraction. It is still in the codebase. It is not on the live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67128"/>
            <a:ext cx="5090007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5090007" cy="365760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8362A"/>
                </a:solidFill>
                <a:latin typeface="Consolas"/>
              </a:rPr>
              <a:t>KEYBERT  ·  unsupervised keyphrase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72424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Live output on a real DevOps job description: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devops engineer</a:t>
            </a:r>
            <a:r>
              <a:rPr sz="1100" b="0">
                <a:solidFill>
                  <a:srgbClr val="8A8D96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intern acme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company name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jenkins containerization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spans two sentences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automation github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spans two sentences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kubernetes</a:t>
            </a:r>
            <a:r>
              <a:rPr sz="1100" b="0">
                <a:solidFill>
                  <a:srgbClr val="8A8D96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engineer</a:t>
            </a:r>
            <a:r>
              <a:rPr sz="1100" b="0">
                <a:solidFill>
                  <a:srgbClr val="8A8D96"/>
                </a:solidFill>
                <a:latin typeface="Consola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167128"/>
            <a:ext cx="5090007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167128"/>
            <a:ext cx="5090007" cy="365760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25856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340"/>
                </a:solidFill>
                <a:latin typeface="Consolas"/>
              </a:rPr>
              <a:t>LLM UNDER A SCHEMA  ·  what we use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70048"/>
            <a:ext cx="472424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Same job description, typed and prioritised: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Docker 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Kubernetes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Terraform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Linux/Unix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skill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AWS    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2F5378"/>
                </a:solidFill>
                <a:latin typeface="Consolas"/>
              </a:rPr>
              <a:t>nice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Ansible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2F5378"/>
                </a:solidFill>
                <a:latin typeface="Consolas"/>
              </a:rPr>
              <a:t>nice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7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IT WAS REPLACED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59612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714999"/>
            <a:ext cx="306415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No notion of a requirement.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It ranks phrases by similarity to the document, so it surfaces whatever is salient — company names, locations, boilerplate — not what the employer asks for.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9178" y="559612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3770" y="5714999"/>
            <a:ext cx="306415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No priority.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Coverage needs must-have vs nice-to-have. An unsupervised ranker cannot produce that distinction at 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1116" y="559612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5708" y="5714999"/>
            <a:ext cx="306415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Phrases span sentences.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“jenkins containerization” welds two requirements together, so it matches neither résumé skill.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Measured consequence: keyword_coverage and fuzzy_coverage were identically 0.0 across every calibration pair — recorded in eval/fit_calibrator.py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06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that replacement taught 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same reasoning that motivates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6400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6171B"/>
                </a:solidFill>
                <a:latin typeface="Segoe UI"/>
              </a:rPr>
              <a:t>KeyBERT is an excellent keyphrase extractor. It failed here because the task was not keyphrase extraction.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6171B"/>
                </a:solidFill>
                <a:latin typeface="Segoe UI"/>
              </a:rPr>
              <a:t>A job description does not ask for its most salient phrases. </a:t>
            </a:r>
            <a:r>
              <a:rPr sz="1400" b="0">
                <a:solidFill>
                  <a:srgbClr val="4A4C55"/>
                </a:solidFill>
                <a:latin typeface="Segoe UI"/>
              </a:rPr>
              <a:t>It asks for a typed, prioritised list of requirements — and that structure has to come from somewhere.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The LLM is not being used here for fluency or creativity. It is being used as a structured-extraction engine, constrained by a schema that forces every requirement into a 1–4 word token with a kind and a priority.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681728"/>
            <a:ext cx="6400800" cy="1143000"/>
          </a:xfrm>
          <a:prstGeom prst="rect">
            <a:avLst/>
          </a:prstGeom>
          <a:solidFill>
            <a:srgbClr val="E9EFF5"/>
          </a:solidFill>
          <a:ln w="1651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2F5378"/>
                </a:solidFill>
                <a:latin typeface="Consolas"/>
              </a:rPr>
              <a:t>THE GENERAL PRINCIPLE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B"/>
                </a:solidFill>
                <a:latin typeface="Segoe UI"/>
              </a:rPr>
              <a:t>Use the LLM where structure must be inferred. Use deterministic code where correctness must be guaranteed.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15727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WHERE EACH TOOL 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938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938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USED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80" y="2212848"/>
            <a:ext cx="429768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3774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Infer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37744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8362A"/>
                </a:solidFill>
                <a:latin typeface="Segoe UI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JD parsing, extraction, rewriting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298094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1089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Compare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10896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378"/>
                </a:solidFill>
                <a:latin typeface="Segoe UI"/>
              </a:rPr>
              <a:t>mpnet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310896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semantic similarity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371246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38404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Guarantee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84048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340"/>
                </a:solidFill>
                <a:latin typeface="Segoe UI"/>
              </a:rPr>
              <a:t>RapidFuzz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84048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the gate — no model at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80" y="444398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4315968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71B"/>
                </a:solidFill>
                <a:latin typeface="Segoe UI"/>
              </a:rPr>
              <a:t>KeyBERT sat in the wrong row. </a:t>
            </a:r>
            <a:r>
              <a:rPr sz="1300" b="0">
                <a:solidFill>
                  <a:srgbClr val="4A4C55"/>
                </a:solidFill>
                <a:latin typeface="Segoe UI"/>
              </a:rPr>
              <a:t>It was asked to guarantee a structure it had no mechanism to produce — the same category error as trusting a prompt to guarantee truthfulness.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